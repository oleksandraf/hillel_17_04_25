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Аналіз ринку самозайнятих у Бельгії (2017–2023)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Тенденції, вплив COVID-19 та перспективи зростання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Загальний огляд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Кількість самозайнятих (2023): 1,75 млн</a:t>
            </a:r>
          </a:p>
          <a:p>
            <a:r>
              <a:t>• Середньорічне зростання (CAGR 2017–2023): 4,7%</a:t>
            </a:r>
          </a:p>
          <a:p>
            <a:r>
              <a:t>• Спад у період COVID-19 (2020): -3,6%</a:t>
            </a:r>
          </a:p>
          <a:p>
            <a:r>
              <a:t>• Відновлення до 2023: +22,2% к уровню 2019</a:t>
            </a:r>
          </a:p>
          <a:p>
            <a:r>
              <a:t>• Пост-COVID CAGR (2020–2023): 5,6%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Вплив COVID-19 на ринок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2020 год — минимальное количество самозанятых (1,48 млн)</a:t>
            </a:r>
          </a:p>
          <a:p>
            <a:r>
              <a:t>• Основне падіння у секторах послуг та торгівлі</a:t>
            </a:r>
          </a:p>
          <a:p>
            <a:r>
              <a:t>• Швидке відновлення після 2021 року</a:t>
            </a:r>
          </a:p>
          <a:p>
            <a:r>
              <a:t>• До 2023 року ринок не лише відновився, але й зріс вище тренду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Сектори ринку (2023)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Найбільша частка — професійні, наукові та технічні послуги (316 тыс.)</a:t>
            </a:r>
          </a:p>
          <a:p>
            <a:r>
              <a:t>• Друге місце — торгівля (235 тыс.)</a:t>
            </a:r>
          </a:p>
          <a:p>
            <a:r>
              <a:t>• Далі: будівництво, охорона здоров’я, адміністративні послуги</a:t>
            </a:r>
          </a:p>
          <a:p>
            <a:r>
              <a:t>• Сільське господарство та виробництво — менша частка ринку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Регіональна структура (2023)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Фландрия — 1,07 млн самозанятых (более 60% рынка)</a:t>
            </a:r>
          </a:p>
          <a:p>
            <a:r>
              <a:t>• Валлония — 482 тыс. (около 27%)</a:t>
            </a:r>
          </a:p>
          <a:p>
            <a:r>
              <a:t>• Брюссель — 201 тыс. (около 11%)</a:t>
            </a:r>
          </a:p>
          <a:p>
            <a:r>
              <a:t>• Найбільша концентрація — Фландрія завдяки диверсифікованій економіці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Демографічний профіль (2023)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Чоловіки становлять 72% самозайнятих, жінки — 28%</a:t>
            </a:r>
          </a:p>
          <a:p>
            <a:r>
              <a:t>• Основна вікова група: 40–59 років (около 100 тыс.)</a:t>
            </a:r>
          </a:p>
          <a:p>
            <a:r>
              <a:t>• Молодь (&lt;30 років) — найменша частка</a:t>
            </a:r>
          </a:p>
          <a:p>
            <a:r>
              <a:t>• Старші групи (&gt;60 років) також активно беруть участь у підприємництві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Перспективи зростання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Очікуване подальше зростання ринку за відсутності зовнішніх криз</a:t>
            </a:r>
          </a:p>
          <a:p>
            <a:r>
              <a:t>• Можливі драйвери:</a:t>
            </a:r>
          </a:p>
          <a:p>
            <a:r>
              <a:t>   – цифровізація та нові професії</a:t>
            </a:r>
          </a:p>
          <a:p>
            <a:r>
              <a:t>   – гнучкість ринку праці</a:t>
            </a:r>
          </a:p>
          <a:p>
            <a:r>
              <a:t>   – зростання сектору послуг</a:t>
            </a:r>
          </a:p>
          <a:p>
            <a:r>
              <a:t>• Потенційні ризики:</a:t>
            </a:r>
          </a:p>
          <a:p>
            <a:r>
              <a:t>   – економічна рецесія</a:t>
            </a:r>
          </a:p>
          <a:p>
            <a:r>
              <a:t>   – зміни у законодавстві</a:t>
            </a:r>
          </a:p>
          <a:p>
            <a:r>
              <a:t>   – нові глобальні кризи (за типом COVID-19)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